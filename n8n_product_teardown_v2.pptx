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943600" cy="5943600"/>
          </a:xfrm>
          <a:prstGeom prst="ellipse">
            <a:avLst/>
          </a:prstGeom>
          <a:solidFill>
            <a:srgbClr val="EA4B00">
              <a:alpha val="10000"/>
            </a:srgbClr>
          </a:solidFill>
          <a:ln w="12700">
            <a:solidFill>
              <a:srgbClr val="EA4B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FF6B2B">
              <a:alpha val="7000"/>
            </a:srgbClr>
          </a:solidFill>
          <a:ln w="12700">
            <a:solidFill>
              <a:srgbClr val="FF6B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n8n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Teardown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95681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 Onboarding Experience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3474720" cy="4114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816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in Public Challenge  4/4  •  NextLeap PM Program  •  By Kartik Mathur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38404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38404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438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Business Model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97840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97840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0332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Actors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57276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157276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6276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Pain Points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216712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16712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221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276148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276148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28163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335584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335584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4107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395020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0" y="395020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40050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4544568"/>
            <a:ext cx="1965960" cy="530352"/>
          </a:xfrm>
          <a:prstGeom prst="roundRect">
            <a:avLst>
              <a:gd name="adj" fmla="val 12069"/>
            </a:avLst>
          </a:prstGeom>
          <a:solidFill>
            <a:srgbClr val="2D2D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4544568"/>
            <a:ext cx="196596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45994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Overview &amp; Business Model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170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is a fair-code, source-available workflow automation platform that lets technical teams build AI-powered integrations without surrendering data control. Unlike fully closed SaaS tools, n8n can be self-hosted for free — making it the preferred choice for engineers who need flexibility at scale.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" y="20848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2487168"/>
            <a:ext cx="1572768" cy="233172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487168"/>
            <a:ext cx="1572768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4871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999232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infra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66544" y="2487168"/>
            <a:ext cx="1572768" cy="233172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66544" y="2487168"/>
            <a:ext cx="1572768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24871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(Starter/Pro)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57984" y="2999232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hosting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$20–$50/mo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DevOps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85616" y="2487168"/>
            <a:ext cx="1572768" cy="233172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2487168"/>
            <a:ext cx="1572768" cy="457200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18" name="Text 16"/>
          <p:cNvSpPr/>
          <p:nvPr/>
        </p:nvSpPr>
        <p:spPr>
          <a:xfrm>
            <a:off x="3785616" y="248716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77056" y="2999232"/>
            <a:ext cx="13898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audit logs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LTV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4754880"/>
            <a:ext cx="5120640" cy="29260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7548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Free self-hosted tier drives community → paid Cloud/Enterprise upsell is the revenue engine.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585216"/>
            <a:ext cx="3310128" cy="44988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6949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Funding &amp; Scale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806440" y="1170432"/>
            <a:ext cx="2926080" cy="804672"/>
          </a:xfrm>
          <a:prstGeom prst="roundRect">
            <a:avLst>
              <a:gd name="adj" fmla="val 9091"/>
            </a:avLst>
          </a:prstGeom>
          <a:solidFill>
            <a:srgbClr val="EA4B00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1188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$180M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806440" y="1554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  •  Oct 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20482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$250M+ total raised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2450592"/>
            <a:ext cx="1353312" cy="804672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24871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06440" y="2852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2450592"/>
            <a:ext cx="1353312" cy="804672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24871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400+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0" y="2852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3410712"/>
            <a:ext cx="1353312" cy="804672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344728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40K+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06440" y="38130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3410712"/>
            <a:ext cx="1353312" cy="804672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344728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15200" y="38130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Market &amp; Actors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&amp; Actors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8449056" cy="530352"/>
          </a:xfrm>
          <a:prstGeom prst="roundRect">
            <a:avLst>
              <a:gd name="adj" fmla="val 13793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Market: $13B (2024) → $26B+ by 2029  |  AI Workflow segment growing 38% YoY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2743200" cy="3127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828800"/>
            <a:ext cx="2743200" cy="438912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8288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(Users)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322576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Platform Engineers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Builders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/ Marketing Ops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Teams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Founders / Indie Hackers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55264" y="1828800"/>
            <a:ext cx="2743200" cy="3127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828800"/>
            <a:ext cx="27432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55264" y="18288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322576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— no-code, high friction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 — visual, freemium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Gumloop — AI-native, early stage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Relay.app — lightweight, modern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Pipedream — developer focused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743200" cy="3127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828800"/>
            <a:ext cx="27432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8288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n8n's Moat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322576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Self-hostable = data sovereignty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flywheel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nodes = unlimited flexibility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(LangChain built-in)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Fair-code: free until you scale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4773168"/>
            <a:ext cx="8449056" cy="274320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773168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n8n's strategic bet: Win developers first → they bring n8n into companies → enterprise revenue follows.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Customer Pain Points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Pain Points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1704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n8n's onboarding is trying to solve — and where it falls short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743200" cy="1481328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572768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664208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1664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912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" y="16642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tools lack flexibility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20299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Zapier/Make.com restrict custom logic behind paywalls. Developers need code-level control over their automations.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5264" y="1572768"/>
            <a:ext cx="2743200" cy="1481328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5264" y="1572768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8384" y="1664208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358384" y="1664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Security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46704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75888" y="16642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compliance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46704" y="20299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tools send your data to third-party servers. Regulated industries (fintech, healthcare) can't use them safely.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1572768"/>
            <a:ext cx="2743200" cy="1481328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57276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8266176" y="1664208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266176" y="1664208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Confidence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54496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16642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canvas paralysis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0299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users land on an empty canvas with no guidance. High cognitive load before delivering any value.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3200400"/>
            <a:ext cx="2743200" cy="1481328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20040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2450592" y="3291840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2450592" y="329184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891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096" y="32918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auth friction (OAuth)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6576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credentials requires leaving the app, understanding OAuth flows, and often fails silently on first try.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55264" y="3200400"/>
            <a:ext cx="2743200" cy="1481328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55264" y="32004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5358384" y="3291840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358384" y="329184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Hope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46704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75888" y="32918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shock at scale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46704" y="36576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start free, build workflows, then hit execution limits unexpectedly. Upgrade prompt arrives without warning.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63056" y="3200400"/>
            <a:ext cx="2743200" cy="1481328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63056" y="320040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Shape 42"/>
          <p:cNvSpPr/>
          <p:nvPr/>
        </p:nvSpPr>
        <p:spPr>
          <a:xfrm>
            <a:off x="8266176" y="3291840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8266176" y="329184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Confidence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54496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83680" y="32918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jargon overload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54496" y="36576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'Trigger node', 'webhook', 'expression syntax' — non-technical ops users face steep terminology barrier from day 1.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User Personas — Evidence-Based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Personas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1704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real n8n usage patterns, case studies (Vodafone, Stepstone), and community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4133088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536192"/>
            <a:ext cx="4133088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" y="1609344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09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6152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Infrastructure Eng.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16152" y="18105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Lead  •  Mid-large tech org  •  Self-hosts n8n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" y="2103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Need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2322576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full control — not Zapier's 2-step logic limits"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" y="2798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3017520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automation, alerting pipelines, infra orchestration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3493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" y="3712464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complexity is acceptable — but blank canvas + lack of built-in templates for DevOps use-cases slows first activation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" y="4187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4407408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Vodafone &amp; Stepstone enterprise case studies (n8n.io)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536192"/>
            <a:ext cx="4133088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36192"/>
            <a:ext cx="4133088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791456" y="1609344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1609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1572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Ops Automator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181051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/ Mktg Ops  •  SaaS / B2B  •  Uses Cloud tier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2103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Need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2322576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"Automate workflows without engineering dependency"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2798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017520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routing (HubSpot→Slack), CRM sync, customer lifecycle automation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3493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3712464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OAuth/API key setup causes immediate drop-off. Technical error messages feel hostile. High-volume segment but highest churn.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28032" y="4187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28032" y="4407408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RevOps workflow patterns, NetSetSoftware research, G2 reviews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Persona Prioritization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 Prioritization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01168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59152" y="1170432"/>
            <a:ext cx="109728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2359152" y="1170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1170432"/>
            <a:ext cx="109728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170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53712" y="117043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170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5312" y="1170432"/>
            <a:ext cx="237744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5925312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Segment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1572768"/>
            <a:ext cx="2011680" cy="530352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" y="1572768"/>
            <a:ext cx="64008" cy="530352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572768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DevOps / Platform Eng.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59152" y="1572768"/>
            <a:ext cx="1097280" cy="530352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20" name="Text 18"/>
          <p:cNvSpPr/>
          <p:nvPr/>
        </p:nvSpPr>
        <p:spPr>
          <a:xfrm>
            <a:off x="2359152" y="157276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56432" y="1572768"/>
            <a:ext cx="1097280" cy="530352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157276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53712" y="1572768"/>
            <a:ext cx="1371600" cy="530352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24" name="Text 22"/>
          <p:cNvSpPr/>
          <p:nvPr/>
        </p:nvSpPr>
        <p:spPr>
          <a:xfrm>
            <a:off x="4553712" y="157276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25312" y="1572768"/>
            <a:ext cx="2377440" cy="530352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26" name="Text 24"/>
          <p:cNvSpPr/>
          <p:nvPr/>
        </p:nvSpPr>
        <p:spPr>
          <a:xfrm>
            <a:off x="5925312" y="15727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infra automation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01000" y="1682496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EA4B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168249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ICP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2121408"/>
            <a:ext cx="2011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" y="2121408"/>
            <a:ext cx="64008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121408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/ Workflow Builder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59152" y="2121408"/>
            <a:ext cx="10972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359152" y="212140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56432" y="2121408"/>
            <a:ext cx="10972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56432" y="212140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53712" y="2121408"/>
            <a:ext cx="1371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212140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25312" y="2121408"/>
            <a:ext cx="23774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925312" y="21214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agents, data pipelines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" y="2670048"/>
            <a:ext cx="201168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" y="2670048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2670048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RevOps / Ops Manager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59152" y="2670048"/>
            <a:ext cx="109728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44" name="Text 42"/>
          <p:cNvSpPr/>
          <p:nvPr/>
        </p:nvSpPr>
        <p:spPr>
          <a:xfrm>
            <a:off x="2359152" y="26700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56432" y="2670048"/>
            <a:ext cx="109728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46" name="Text 44"/>
          <p:cNvSpPr/>
          <p:nvPr/>
        </p:nvSpPr>
        <p:spPr>
          <a:xfrm>
            <a:off x="3456432" y="26700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53712" y="2670048"/>
            <a:ext cx="137160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48" name="Text 46"/>
          <p:cNvSpPr/>
          <p:nvPr/>
        </p:nvSpPr>
        <p:spPr>
          <a:xfrm>
            <a:off x="4553712" y="267004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25312" y="2670048"/>
            <a:ext cx="237744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0" name="Text 48"/>
          <p:cNvSpPr/>
          <p:nvPr/>
        </p:nvSpPr>
        <p:spPr>
          <a:xfrm>
            <a:off x="5925312" y="267004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routing, CRM sync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7472" y="3218688"/>
            <a:ext cx="20116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347472" y="3218688"/>
            <a:ext cx="64008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3218688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Enterprise IT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59152" y="3218688"/>
            <a:ext cx="10972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359152" y="32186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56432" y="3218688"/>
            <a:ext cx="10972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456432" y="32186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53712" y="3218688"/>
            <a:ext cx="1371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53712" y="32186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25312" y="3218688"/>
            <a:ext cx="23774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925312" y="32186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integration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47472" y="3767328"/>
            <a:ext cx="201168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3" name="Shape 61"/>
          <p:cNvSpPr/>
          <p:nvPr/>
        </p:nvSpPr>
        <p:spPr>
          <a:xfrm>
            <a:off x="347472" y="3767328"/>
            <a:ext cx="64008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3767328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Solo Founder / Hacker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59152" y="3767328"/>
            <a:ext cx="109728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6" name="Text 64"/>
          <p:cNvSpPr/>
          <p:nvPr/>
        </p:nvSpPr>
        <p:spPr>
          <a:xfrm>
            <a:off x="2359152" y="376732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456432" y="3767328"/>
            <a:ext cx="109728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8" name="Text 66"/>
          <p:cNvSpPr/>
          <p:nvPr/>
        </p:nvSpPr>
        <p:spPr>
          <a:xfrm>
            <a:off x="3456432" y="376732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53712" y="3767328"/>
            <a:ext cx="137160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70" name="Text 68"/>
          <p:cNvSpPr/>
          <p:nvPr/>
        </p:nvSpPr>
        <p:spPr>
          <a:xfrm>
            <a:off x="4553712" y="37673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925312" y="3767328"/>
            <a:ext cx="2377440" cy="530352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72" name="Text 70"/>
          <p:cNvSpPr/>
          <p:nvPr/>
        </p:nvSpPr>
        <p:spPr>
          <a:xfrm>
            <a:off x="5925312" y="376732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automation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47472" y="4315968"/>
            <a:ext cx="8449056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4" name="Shape 72"/>
          <p:cNvSpPr/>
          <p:nvPr/>
        </p:nvSpPr>
        <p:spPr>
          <a:xfrm>
            <a:off x="347472" y="4315968"/>
            <a:ext cx="64008" cy="640080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75" name="Text 73"/>
          <p:cNvSpPr/>
          <p:nvPr/>
        </p:nvSpPr>
        <p:spPr>
          <a:xfrm>
            <a:off x="502920" y="4370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Core Insight: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02920" y="46268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n8n's onboarding is intentionally optimized for DevOps &amp; technical users — not Ops users.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783080" y="4370832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deliberate strategic choice: prioritize flexibility over accessibility to win the high-LTV technical ICP first.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User Journey Map (1/2) — Flow Overview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58521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Journey 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EA4B0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789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☁ Cloud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81328" y="1115568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1155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n8n.io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1335024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115568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11155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(Email/SSO)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42816" y="1335024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115568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1155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05856" y="1335024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0448" y="1115568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EA4B00"/>
          </a:solidFill>
          <a:ln/>
        </p:spPr>
      </p:sp>
      <p:sp>
        <p:nvSpPr>
          <p:cNvPr id="18" name="Text 16"/>
          <p:cNvSpPr/>
          <p:nvPr/>
        </p:nvSpPr>
        <p:spPr>
          <a:xfrm>
            <a:off x="5870448" y="11155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68896" y="1335024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3488" y="1115568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33488" y="11155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17373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" y="17373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🖥 Self-Host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81328" y="1773936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1481328" y="17739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n8n.io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79776" y="1993392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44368" y="1773936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2944368" y="17739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Docker/npm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42816" y="1993392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7408" y="1773936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407408" y="17739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&amp; 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05856" y="1993392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1773936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5870448" y="17739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localhost:5678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68896" y="1993392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33488" y="1773936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7333488" y="17739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2331720"/>
            <a:ext cx="877824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23957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on Canvas — Both Paths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2761488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76148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Template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Blank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719072" y="3035808"/>
            <a:ext cx="12801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47088" y="2761488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44" name="Text 42"/>
          <p:cNvSpPr/>
          <p:nvPr/>
        </p:nvSpPr>
        <p:spPr>
          <a:xfrm>
            <a:off x="1847088" y="276148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Add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08960" y="3035808"/>
            <a:ext cx="12801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36976" y="2761488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3236976" y="276148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Set 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98848" y="3035808"/>
            <a:ext cx="12801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26864" y="2761488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50" name="Text 48"/>
          <p:cNvSpPr/>
          <p:nvPr/>
        </p:nvSpPr>
        <p:spPr>
          <a:xfrm>
            <a:off x="4626864" y="276148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Add 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88736" y="3035808"/>
            <a:ext cx="12801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16752" y="2761488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53" name="Text 51"/>
          <p:cNvSpPr/>
          <p:nvPr/>
        </p:nvSpPr>
        <p:spPr>
          <a:xfrm>
            <a:off x="6016752" y="276148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78624" y="3035808"/>
            <a:ext cx="128016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06640" y="2761488"/>
            <a:ext cx="1261872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7406640" y="276148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926080" y="3310128"/>
            <a:ext cx="0" cy="256032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3584448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EF4444">
              <a:alpha val="8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2331720" y="35844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Highest Drop-off 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Setup Friction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82880" y="4206240"/>
            <a:ext cx="877824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26110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Post-Activation Retention Loop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14400" y="4572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63" name="Text 61"/>
          <p:cNvSpPr/>
          <p:nvPr/>
        </p:nvSpPr>
        <p:spPr>
          <a:xfrm>
            <a:off x="914400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Workflow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0" y="4773168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50592" y="4572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66" name="Text 64"/>
          <p:cNvSpPr/>
          <p:nvPr/>
        </p:nvSpPr>
        <p:spPr>
          <a:xfrm>
            <a:off x="2450592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/ Collab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822192" y="4773168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86784" y="4572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3986784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Free Limit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358384" y="4773168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22976" y="4572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A4B00"/>
          </a:solidFill>
          <a:ln/>
        </p:spPr>
      </p:sp>
      <p:sp>
        <p:nvSpPr>
          <p:cNvPr id="72" name="Text 70"/>
          <p:cNvSpPr/>
          <p:nvPr/>
        </p:nvSpPr>
        <p:spPr>
          <a:xfrm>
            <a:off x="5522976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Prompt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94576" y="4773168"/>
            <a:ext cx="164592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059168" y="4572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A4B00"/>
          </a:solidFill>
          <a:ln/>
        </p:spPr>
      </p:sp>
      <p:sp>
        <p:nvSpPr>
          <p:cNvPr id="75" name="Text 73"/>
          <p:cNvSpPr/>
          <p:nvPr/>
        </p:nvSpPr>
        <p:spPr>
          <a:xfrm>
            <a:off x="7059168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Enterprise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User Journey Map (2/2) — PSYCH Framework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Journey 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274320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43000"/>
            <a:ext cx="274320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1234440"/>
            <a:ext cx="420624" cy="420624"/>
          </a:xfrm>
          <a:prstGeom prst="ellipse">
            <a:avLst/>
          </a:prstGeom>
          <a:solidFill>
            <a:srgbClr val="EA4B0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34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23444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n8n.io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finds n8n via GitHub/Reddit/Google. Homepage is technical — heavy on integrations, light on 'what's in it for me'.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2542032" cy="36576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9514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951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52144" y="22951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value prop → user hesitates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1143000"/>
            <a:ext cx="274320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14300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3401568" y="1234440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234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13632" y="123444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 Self-Host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1618488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binary choice: managed Cloud or self-hosting. No 'recommended for me' guidance. Beginners face decision paralysis.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221992"/>
            <a:ext cx="2542032" cy="36576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229514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22951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Confidence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78224" y="22951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options too early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1143000"/>
            <a:ext cx="274320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9632" y="114300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7648" y="123444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327648" y="1234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9712" y="123444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/ Install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1618488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email/SSO in 30 sec. Self-Host: Docker pull, env vars, port config. Two wildly different effort levels in one step.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221992"/>
            <a:ext cx="2542032" cy="36576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229514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2951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04304" y="229514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this? Will it work?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2606040"/>
            <a:ext cx="274320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26060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" y="269748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87552" y="269748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Landing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3081528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from a template or scratch" — the empty canvas is intimidating. Template discovery is category-based, not use-case-guided.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685032"/>
            <a:ext cx="2542032" cy="36576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75818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75818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Pain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52144" y="37581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canvas anxiety, overwhelm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73552" y="2606040"/>
            <a:ext cx="274320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73552" y="260604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Shape 46"/>
          <p:cNvSpPr/>
          <p:nvPr/>
        </p:nvSpPr>
        <p:spPr>
          <a:xfrm>
            <a:off x="3401568" y="2697480"/>
            <a:ext cx="420624" cy="42062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401568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13632" y="269748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Setup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83280" y="3081528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set up OAuth/API keys for each service. Requires leaving n8n, reading API docs, managing scopes. Highest drop-off step.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83280" y="3685032"/>
            <a:ext cx="2542032" cy="36576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53" name="Shape 51"/>
          <p:cNvSpPr/>
          <p:nvPr/>
        </p:nvSpPr>
        <p:spPr>
          <a:xfrm>
            <a:off x="3383280" y="375818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0" y="375818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Security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78224" y="37581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+ fear of breaking things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99632" y="2606040"/>
            <a:ext cx="274320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99632" y="260604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8" name="Shape 56"/>
          <p:cNvSpPr/>
          <p:nvPr/>
        </p:nvSpPr>
        <p:spPr>
          <a:xfrm>
            <a:off x="6327648" y="2697480"/>
            <a:ext cx="420624" cy="42062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6327648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39712" y="269748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Execution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09360" y="3081528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runs workflow and sees live data flowing node-by-node. This is the 'aha moment'. Debug logs help but are developer-centric.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09360" y="3685032"/>
            <a:ext cx="2542032" cy="36576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63" name="Shape 61"/>
          <p:cNvSpPr/>
          <p:nvPr/>
        </p:nvSpPr>
        <p:spPr>
          <a:xfrm>
            <a:off x="6309360" y="3758184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/>
        </p:spPr>
      </p:sp>
      <p:sp>
        <p:nvSpPr>
          <p:cNvPr id="64" name="Text 62"/>
          <p:cNvSpPr/>
          <p:nvPr/>
        </p:nvSpPr>
        <p:spPr>
          <a:xfrm>
            <a:off x="6309360" y="375818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Hope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04304" y="37581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actually works!' — dopamine hit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7472" y="4041648"/>
            <a:ext cx="8449056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" y="4041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3000" dirty="0"/>
          </a:p>
        </p:txBody>
      </p:sp>
      <p:sp>
        <p:nvSpPr>
          <p:cNvPr id="68" name="Text 66"/>
          <p:cNvSpPr/>
          <p:nvPr/>
        </p:nvSpPr>
        <p:spPr>
          <a:xfrm>
            <a:off x="822960" y="4114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setup broke me on day 1. The OAuth flow just failed silently — zero error message. Took me 2 hrs to figure out my Google scopes were wrong.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6949440" y="4645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Reddit, r/n8n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User Experience (1/2) — The Good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Experience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512064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GOOD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60934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flow is clean and developer-friendly. n8n's template library creates an immediate 'aha moment' — users see real workflows for their exact use case within minutes of signing up.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" y="2304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Principles at 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660904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609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871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complexity hidden until chosen — Cloud path is simple by default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227832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278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Hick's Law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438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limited to 3 options (Email/Google/GitHub) — reduces choice overload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794760"/>
            <a:ext cx="237744" cy="23774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7947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State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005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shows 'Start with template' CTA — prevents blank-canvas paralysis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152144"/>
            <a:ext cx="3200400" cy="38587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779008" y="1261872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4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Listed PROs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79008" y="1664208"/>
            <a:ext cx="2980944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templates organised by use case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canvas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nodes for custom logic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log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(Google/GitHub) — fast sign-up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for Cloud trial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community forum &amp; Discord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" y="4352544"/>
            <a:ext cx="5120640" cy="27432"/>
          </a:xfrm>
          <a:prstGeom prst="rect">
            <a:avLst/>
          </a:prstGeom>
          <a:solidFill>
            <a:srgbClr val="EAECF2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44074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Principles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4663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Templates = Growth Loop — Every shared template is a new SEO + viral acquisition channel.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" y="48737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Open-Source Flywheel — 40K+ GitHub stars drive community integrations, improving the product for free.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User Experience (2/2) — Poor, Alternatives &amp; Recommendations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Experience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The POOR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dominate, but credential setup and blank-canvas friction are the #1 recurring complaint across G2, Reddit, and Product Hunt.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32461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guided onboarding wizard (blank canvas)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OAuth/API setup silently fails — zero guidance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are too developer-centric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limit hit without warning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requires CLI — loses non-devs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2062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4261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great but first-time setup is brutal. I nearly gave up before my first workflow ran.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47000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A4B00"/>
                </a:solidFill>
              </a:rPr>
              <a:t>— G2 Review, 3★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170432"/>
            <a:ext cx="2331720" cy="34747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1704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Alternatives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1536192"/>
            <a:ext cx="233172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536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536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Onboard UX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1536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1828800"/>
            <a:ext cx="2331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186537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1214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freemium, non-technical-friendly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⭐⭐⭐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2487168"/>
            <a:ext cx="2331720" cy="59436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2523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Gumloop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3320" y="27797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modern UX, early stage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3145536"/>
            <a:ext cx="2331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31821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Relay.app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34381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great onboarding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3282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3803904"/>
            <a:ext cx="2331720" cy="59436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38404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03320" y="40965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No-code, expensive at scale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3941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⭐⭐⭐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170432"/>
            <a:ext cx="2788920" cy="347472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7043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1591056"/>
            <a:ext cx="2788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591056"/>
            <a:ext cx="64008" cy="1078992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36208" y="1682496"/>
            <a:ext cx="365760" cy="365760"/>
          </a:xfrm>
          <a:prstGeom prst="ellipse">
            <a:avLst/>
          </a:prstGeom>
          <a:solidFill>
            <a:srgbClr val="EA4B00"/>
          </a:solidFill>
          <a:ln/>
        </p:spPr>
      </p:sp>
      <p:sp>
        <p:nvSpPr>
          <p:cNvPr id="40" name="Text 38"/>
          <p:cNvSpPr/>
          <p:nvPr/>
        </p:nvSpPr>
        <p:spPr>
          <a:xfrm>
            <a:off x="6236208" y="1682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56832" y="16824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Onboarding Wizard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91072" y="199339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No first-use guidance → blank canvas paralysis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91072" y="21945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5-step interactive wizard (use case → template → first run)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91072" y="24140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↑ Activation rate by ~25–30% for non-dev users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2761488"/>
            <a:ext cx="2788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2761488"/>
            <a:ext cx="64008" cy="10789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Shape 45"/>
          <p:cNvSpPr/>
          <p:nvPr/>
        </p:nvSpPr>
        <p:spPr>
          <a:xfrm>
            <a:off x="6236208" y="285292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623620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56832" y="28529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Setup Assistant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91072" y="31638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OAuth failure = silent, confusing, high drop-off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91072" y="33649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In-app step-by-step credential guide with live validation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91072" y="358444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↓ Drop-off at credential step by ~40%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26480" y="3931920"/>
            <a:ext cx="2788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26480" y="3931920"/>
            <a:ext cx="64008" cy="10789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hape 53"/>
          <p:cNvSpPr/>
          <p:nvPr/>
        </p:nvSpPr>
        <p:spPr>
          <a:xfrm>
            <a:off x="6236208" y="402336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6236208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656832" y="402336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Cloud Sandbox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291072" y="433425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Self-hosting loses non-technical users immediately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91072" y="45354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Instant browser sandbox — no install, no signup required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91072" y="47548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↑ Ops segment activation, ↑ top-of-funnel conversion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Key Metrics — AARRR Framework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Metrics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52144"/>
            <a:ext cx="347472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521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on n8n.io / GitHub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0" y="1225296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2252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Acquisition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94760" y="1426464"/>
            <a:ext cx="182880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83080"/>
            <a:ext cx="2926080" cy="548640"/>
          </a:xfrm>
          <a:prstGeom prst="rect">
            <a:avLst/>
          </a:prstGeom>
          <a:solidFill>
            <a:srgbClr val="3D506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Cloud Trial / Clone Repo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" y="2414016"/>
            <a:ext cx="23317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" y="241401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Sign-Up or Installation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2487168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2487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Activation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3260" y="2688336"/>
            <a:ext cx="182880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5860" y="3044952"/>
            <a:ext cx="1783080" cy="548640"/>
          </a:xfrm>
          <a:prstGeom prst="rect">
            <a:avLst/>
          </a:prstGeom>
          <a:solidFill>
            <a:srgbClr val="0E7A72"/>
          </a:solidFill>
          <a:ln/>
        </p:spPr>
      </p:sp>
      <p:sp>
        <p:nvSpPr>
          <p:cNvPr id="19" name="Text 17"/>
          <p:cNvSpPr/>
          <p:nvPr/>
        </p:nvSpPr>
        <p:spPr>
          <a:xfrm>
            <a:off x="1165860" y="304495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First Node Successfully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408176" y="3675888"/>
            <a:ext cx="1298448" cy="548640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21" name="Text 19"/>
          <p:cNvSpPr/>
          <p:nvPr/>
        </p:nvSpPr>
        <p:spPr>
          <a:xfrm>
            <a:off x="1408176" y="367588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Activate First Full Workflow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374904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EA4B0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3749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North Star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06624" y="3950208"/>
            <a:ext cx="182880" cy="0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1115568"/>
            <a:ext cx="3520440" cy="877824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1115568"/>
            <a:ext cx="352044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111556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46304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→ sign-up CVR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Cloud trial CVR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vs paid traffic split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2084832"/>
            <a:ext cx="3520440" cy="877824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303520" y="2084832"/>
            <a:ext cx="352044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08483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43230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Time-to-First-Workflow (T2FW)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execution success rate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@ credential setup step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3054096"/>
            <a:ext cx="3520440" cy="877824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303520" y="3054096"/>
            <a:ext cx="3520440" cy="31089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05409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34015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/ D30 workflow activity rate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executions / user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free → paid upgrade CVR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4069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A4B00"/>
          </a:solidFill>
          <a:ln/>
        </p:spPr>
      </p:sp>
      <p:sp>
        <p:nvSpPr>
          <p:cNvPr id="38" name="Text 36"/>
          <p:cNvSpPr/>
          <p:nvPr/>
        </p:nvSpPr>
        <p:spPr>
          <a:xfrm>
            <a:off x="5376672" y="4114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North-Star Metric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76672" y="4389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Users Activating First Workflow  ÷  Total Sign-Ups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 •  Key Takeaways &amp; Sources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2788920" cy="11704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170432"/>
            <a:ext cx="2788920" cy="54864"/>
          </a:xfrm>
          <a:prstGeom prst="rect">
            <a:avLst/>
          </a:prstGeom>
          <a:solidFill>
            <a:srgbClr val="EA4B00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" y="1261872"/>
            <a:ext cx="384048" cy="384048"/>
          </a:xfrm>
          <a:prstGeom prst="ellipse">
            <a:avLst/>
          </a:prstGeom>
          <a:solidFill>
            <a:srgbClr val="EA4B00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complexity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" y="1627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n8n's onboarding is complex by design — it prioritizes developer flexibility over accessibility. This is a strategic moat, not a bug.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36976" y="1170432"/>
            <a:ext cx="2788920" cy="11704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236976" y="1170432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64992" y="12618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31336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Two-speed onboarding problem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64992" y="1627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Self-host paths create radically different effort levels. n8n hasn't reconciled this tension for non-technical users yet.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170432"/>
            <a:ext cx="2788920" cy="11704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1170432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26187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75704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setup = the wall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1627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 drop-off point is OAuth/credential setup. Fixing this with in-app guidance would directly move the North-Star metric.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" y="2468880"/>
            <a:ext cx="2788920" cy="11704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" y="2468880"/>
            <a:ext cx="2788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" y="256032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are the growth loop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0624" y="2926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templates drive SEO, community sharing, and first activation. This is n8n's underrated acquisition channel.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36976" y="2468880"/>
            <a:ext cx="2788920" cy="11704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31" name="Shape 29"/>
          <p:cNvSpPr/>
          <p:nvPr/>
        </p:nvSpPr>
        <p:spPr>
          <a:xfrm>
            <a:off x="3236976" y="2468880"/>
            <a:ext cx="2788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3364992" y="25603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31336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DevOps-first, Ops-second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64992" y="2926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optimized for DevOps ICP. Ops users (high volume, high drop-off) remain an untapped activation opportunity.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1344" y="2468880"/>
            <a:ext cx="2788920" cy="11704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181344" y="2468880"/>
            <a:ext cx="2788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56032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75704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$180M bet on AI-native workflows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09360" y="2926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 C signals n8n is pivoting positioning toward AI orchestration — onboarding will likely need to reflect this soon.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773168"/>
            <a:ext cx="8686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n8n.io official docs &amp; case studies  •  G2 &amp; Product Hunt reviews  •  r/n8n (Reddit)  •  NetSetSoftware research  •  Crunchbase (funding)  •  GitHub (community data)  •  Medium AI automation trends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Product Teardown – New User Onboarding</dc:title>
  <dc:subject>PptxGenJS Presentation</dc:subject>
  <dc:creator>Kartik Mathur</dc:creator>
  <cp:lastModifiedBy>Kartik Mathur</cp:lastModifiedBy>
  <cp:revision>1</cp:revision>
  <dcterms:created xsi:type="dcterms:W3CDTF">2026-05-03T03:39:50Z</dcterms:created>
  <dcterms:modified xsi:type="dcterms:W3CDTF">2026-05-03T03:39:50Z</dcterms:modified>
</cp:coreProperties>
</file>